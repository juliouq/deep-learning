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embeddedFontLst>
    <p:embeddedFont>
      <p:font typeface="Arimo" panose="020B0604020202020204" pitchFamily="34" charset="0"/>
      <p:regular r:id="rId8"/>
    </p:embeddedFont>
    <p:embeddedFont>
      <p:font typeface="Outfit ExtraBold" pitchFamily="2" charset="0"/>
      <p:regular r:id="rId9"/>
      <p:bold r:id="rId1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82548"/>
  </p:normalViewPr>
  <p:slideViewPr>
    <p:cSldViewPr snapToGrid="0" snapToObjects="1">
      <p:cViewPr varScale="1">
        <p:scale>
          <a:sx n="137" d="100"/>
          <a:sy n="137" d="100"/>
        </p:scale>
        <p:origin x="8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6348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13512392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AFAFA">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Shape 0"/>
          <p:cNvSpPr/>
          <p:nvPr/>
        </p:nvSpPr>
        <p:spPr>
          <a:xfrm>
            <a:off x="496119" y="532284"/>
            <a:ext cx="1628031" cy="244376"/>
          </a:xfrm>
          <a:prstGeom prst="roundRect">
            <a:avLst>
              <a:gd name="adj" fmla="val 18274"/>
            </a:avLst>
          </a:prstGeom>
          <a:solidFill>
            <a:srgbClr val="D7D2F9"/>
          </a:solidFill>
          <a:ln/>
        </p:spPr>
      </p:sp>
      <p:sp>
        <p:nvSpPr>
          <p:cNvPr id="4" name="Text 1"/>
          <p:cNvSpPr/>
          <p:nvPr/>
        </p:nvSpPr>
        <p:spPr>
          <a:xfrm>
            <a:off x="575816" y="572095"/>
            <a:ext cx="1925836" cy="164753"/>
          </a:xfrm>
          <a:prstGeom prst="rect">
            <a:avLst/>
          </a:prstGeom>
          <a:noFill/>
          <a:ln/>
        </p:spPr>
        <p:txBody>
          <a:bodyPr wrap="none" lIns="0" tIns="0" rIns="0" bIns="0" rtlCol="0" anchor="t"/>
          <a:lstStyle/>
          <a:p>
            <a:pPr marL="0" indent="0" algn="l">
              <a:lnSpc>
                <a:spcPct val="129000"/>
              </a:lnSpc>
              <a:buNone/>
            </a:pPr>
            <a:r>
              <a:rPr lang="en-US" sz="800" dirty="0">
                <a:solidFill>
                  <a:srgbClr val="2A2742"/>
                </a:solidFill>
                <a:latin typeface="Arimo" pitchFamily="34" charset="0"/>
                <a:ea typeface="Arimo" pitchFamily="34" charset="-122"/>
                <a:cs typeface="Arimo" pitchFamily="34" charset="-120"/>
              </a:rPr>
              <a:t>NIPS 2017 · DEEP LEARNING</a:t>
            </a:r>
            <a:endParaRPr lang="en-US" sz="800" dirty="0"/>
          </a:p>
        </p:txBody>
      </p:sp>
      <p:sp>
        <p:nvSpPr>
          <p:cNvPr id="5" name="Text 2"/>
          <p:cNvSpPr/>
          <p:nvPr/>
        </p:nvSpPr>
        <p:spPr>
          <a:xfrm>
            <a:off x="496119" y="826443"/>
            <a:ext cx="4240485" cy="415305"/>
          </a:xfrm>
          <a:prstGeom prst="rect">
            <a:avLst/>
          </a:prstGeom>
          <a:noFill/>
          <a:ln/>
        </p:spPr>
        <p:txBody>
          <a:bodyPr wrap="none" lIns="0" tIns="0" rIns="0" bIns="0" rtlCol="0" anchor="t"/>
          <a:lstStyle/>
          <a:p>
            <a:pPr marL="0" indent="0" algn="l">
              <a:lnSpc>
                <a:spcPct val="104000"/>
              </a:lnSpc>
              <a:buNone/>
            </a:pPr>
            <a:r>
              <a:rPr lang="en-US" sz="2600" dirty="0">
                <a:solidFill>
                  <a:srgbClr val="231971"/>
                </a:solidFill>
                <a:latin typeface="Outfit ExtraBold" pitchFamily="34" charset="0"/>
                <a:ea typeface="Outfit ExtraBold" pitchFamily="34" charset="-122"/>
                <a:cs typeface="Outfit ExtraBold" pitchFamily="34" charset="-120"/>
              </a:rPr>
              <a:t>Attention Is All You Need</a:t>
            </a:r>
            <a:endParaRPr lang="en-US" sz="2600" dirty="0"/>
          </a:p>
        </p:txBody>
      </p:sp>
      <p:sp>
        <p:nvSpPr>
          <p:cNvPr id="6" name="Text 3"/>
          <p:cNvSpPr/>
          <p:nvPr/>
        </p:nvSpPr>
        <p:spPr>
          <a:xfrm>
            <a:off x="496119" y="1428601"/>
            <a:ext cx="4722763" cy="964034"/>
          </a:xfrm>
          <a:prstGeom prst="rect">
            <a:avLst/>
          </a:prstGeom>
          <a:noFill/>
          <a:ln/>
        </p:spPr>
        <p:txBody>
          <a:bodyPr wrap="square" lIns="0" tIns="0" rIns="0" bIns="0" rtlCol="0" anchor="t">
            <a:normAutofit/>
          </a:bodyPr>
          <a:lstStyle/>
          <a:p>
            <a:pPr marL="0" indent="0" algn="l">
              <a:lnSpc>
                <a:spcPct val="129000"/>
              </a:lnSpc>
              <a:buNone/>
            </a:pPr>
            <a:r>
              <a:rPr lang="en-US" sz="1000" b="1" dirty="0">
                <a:solidFill>
                  <a:srgbClr val="2A2742"/>
                </a:solidFill>
                <a:latin typeface="Arimo" pitchFamily="34" charset="0"/>
                <a:ea typeface="Arimo" pitchFamily="34" charset="-122"/>
                <a:cs typeface="Arimo" pitchFamily="34" charset="-120"/>
              </a:rPr>
              <a:t>Vaswani, Shazeer, Parmar, Uszkoreit, Jones, Gomez, Kaiser &amp; Polosukhin</a:t>
            </a:r>
            <a:r>
              <a:rPr lang="en-US" sz="1000" dirty="0">
                <a:solidFill>
                  <a:srgbClr val="2A2742"/>
                </a:solidFill>
                <a:latin typeface="Arimo" pitchFamily="34" charset="0"/>
                <a:ea typeface="Arimo" pitchFamily="34" charset="-122"/>
                <a:cs typeface="Arimo" pitchFamily="34" charset="-120"/>
              </a:rPr>
              <a:t> — Google Brain &amp; Google Research</a:t>
            </a:r>
            <a:endParaRPr lang="en-US" sz="1000" dirty="0"/>
          </a:p>
          <a:p>
            <a:pPr marL="0" indent="0" algn="l">
              <a:lnSpc>
                <a:spcPct val="129000"/>
              </a:lnSpc>
              <a:buNone/>
            </a:pPr>
            <a:r>
              <a:rPr lang="en-US" sz="1000" dirty="0">
                <a:solidFill>
                  <a:srgbClr val="2A2742"/>
                </a:solidFill>
                <a:latin typeface="Arimo" pitchFamily="34" charset="0"/>
                <a:ea typeface="Arimo" pitchFamily="34" charset="-122"/>
                <a:cs typeface="Arimo" pitchFamily="34" charset="-120"/>
              </a:rPr>
              <a:t>El artículo que introdujo la arquitectura </a:t>
            </a:r>
            <a:r>
              <a:rPr lang="en-US" sz="1000" b="1" dirty="0">
                <a:solidFill>
                  <a:srgbClr val="5E4CE6"/>
                </a:solidFill>
                <a:latin typeface="Arimo" pitchFamily="34" charset="0"/>
                <a:ea typeface="Arimo" pitchFamily="34" charset="-122"/>
                <a:cs typeface="Arimo" pitchFamily="34" charset="-120"/>
              </a:rPr>
              <a:t>Transformer</a:t>
            </a:r>
            <a:r>
              <a:rPr lang="en-US" sz="1000" dirty="0">
                <a:solidFill>
                  <a:srgbClr val="2A2742"/>
                </a:solidFill>
                <a:latin typeface="Arimo" pitchFamily="34" charset="0"/>
                <a:ea typeface="Arimo" pitchFamily="34" charset="-122"/>
                <a:cs typeface="Arimo" pitchFamily="34" charset="-120"/>
              </a:rPr>
              <a:t> y redefinió el procesamiento del lenguaje natural.</a:t>
            </a:r>
            <a:endParaRPr lang="en-US" sz="1000" dirty="0"/>
          </a:p>
        </p:txBody>
      </p:sp>
      <p:sp>
        <p:nvSpPr>
          <p:cNvPr id="7" name="Shape 4"/>
          <p:cNvSpPr/>
          <p:nvPr/>
        </p:nvSpPr>
        <p:spPr>
          <a:xfrm>
            <a:off x="496119" y="2532757"/>
            <a:ext cx="4722763" cy="1938337"/>
          </a:xfrm>
          <a:prstGeom prst="roundRect">
            <a:avLst>
              <a:gd name="adj" fmla="val 2880"/>
            </a:avLst>
          </a:prstGeom>
          <a:solidFill>
            <a:srgbClr val="C3BCF6"/>
          </a:solidFill>
          <a:ln/>
        </p:spPr>
      </p:sp>
      <p:pic>
        <p:nvPicPr>
          <p:cNvPr id="8" name="Image 1" descr="preencoded.png"/>
          <p:cNvPicPr>
            <a:picLocks noChangeAspect="1"/>
          </p:cNvPicPr>
          <p:nvPr/>
        </p:nvPicPr>
        <p:blipFill>
          <a:blip r:embed="rId4"/>
          <a:stretch>
            <a:fillRect/>
          </a:stretch>
        </p:blipFill>
        <p:spPr>
          <a:xfrm>
            <a:off x="629022" y="2720653"/>
            <a:ext cx="166092" cy="132904"/>
          </a:xfrm>
          <a:prstGeom prst="rect">
            <a:avLst/>
          </a:prstGeom>
        </p:spPr>
      </p:pic>
      <p:sp>
        <p:nvSpPr>
          <p:cNvPr id="9" name="Text 5"/>
          <p:cNvSpPr/>
          <p:nvPr/>
        </p:nvSpPr>
        <p:spPr>
          <a:xfrm>
            <a:off x="928018" y="2678013"/>
            <a:ext cx="4157960" cy="1647825"/>
          </a:xfrm>
          <a:prstGeom prst="rect">
            <a:avLst/>
          </a:prstGeom>
          <a:noFill/>
          <a:ln/>
        </p:spPr>
        <p:txBody>
          <a:bodyPr wrap="square" lIns="0" tIns="0" rIns="0" bIns="0" rtlCol="0" anchor="t">
            <a:normAutofit/>
          </a:bodyPr>
          <a:lstStyle/>
          <a:p>
            <a:pPr marL="0" indent="0" algn="l">
              <a:lnSpc>
                <a:spcPct val="129000"/>
              </a:lnSpc>
              <a:buNone/>
            </a:pPr>
            <a:r>
              <a:rPr lang="en-US" sz="1000" b="1" dirty="0">
                <a:solidFill>
                  <a:srgbClr val="000000"/>
                </a:solidFill>
                <a:latin typeface="Arimo" pitchFamily="34" charset="0"/>
                <a:ea typeface="Arimo" pitchFamily="34" charset="-122"/>
                <a:cs typeface="Arimo" pitchFamily="34" charset="-120"/>
              </a:rPr>
              <a:t>Notas del presentador:</a:t>
            </a:r>
            <a:r>
              <a:rPr lang="en-US" sz="1000" dirty="0">
                <a:solidFill>
                  <a:srgbClr val="000000"/>
                </a:solidFill>
                <a:latin typeface="Arimo" pitchFamily="34" charset="0"/>
                <a:ea typeface="Arimo" pitchFamily="34" charset="-122"/>
                <a:cs typeface="Arimo" pitchFamily="34" charset="-120"/>
              </a:rPr>
              <a:t> Buenos días. Hoy presentamos uno de los artículos más influyentes en la historia del Deep Learning: «Attention Is All You Need», publicado por Vaswani et al. en NIPS 2017. Este trabajo introdujo la arquitectura Transformer, que eliminó por completo las redes recurrentes y convolucionales en tareas de secuencia a secuencia. En apenas cuatro minutos, veremos el problema que resuelve, sus innovaciones clave, los resultados experimentales y su impacto en modelos como GPT, BERT y Gemini.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515145" y="432941"/>
            <a:ext cx="2822153" cy="276895"/>
          </a:xfrm>
          <a:prstGeom prst="rect">
            <a:avLst/>
          </a:prstGeom>
          <a:noFill/>
          <a:ln/>
        </p:spPr>
        <p:txBody>
          <a:bodyPr wrap="none" lIns="0" tIns="0" rIns="0" bIns="0" rtlCol="0" anchor="t"/>
          <a:lstStyle/>
          <a:p>
            <a:pPr marL="0" indent="0" algn="l">
              <a:lnSpc>
                <a:spcPct val="104000"/>
              </a:lnSpc>
              <a:buNone/>
            </a:pPr>
            <a:r>
              <a:rPr lang="en-US" sz="1700" dirty="0">
                <a:solidFill>
                  <a:srgbClr val="231971"/>
                </a:solidFill>
                <a:latin typeface="Outfit ExtraBold" pitchFamily="34" charset="0"/>
                <a:ea typeface="Outfit ExtraBold" pitchFamily="34" charset="-122"/>
                <a:cs typeface="Outfit ExtraBold" pitchFamily="34" charset="-120"/>
              </a:rPr>
              <a:t>Problema y Motivación</a:t>
            </a:r>
            <a:endParaRPr lang="en-US" sz="1700" dirty="0"/>
          </a:p>
        </p:txBody>
      </p:sp>
      <p:pic>
        <p:nvPicPr>
          <p:cNvPr id="3" name="Image 0" descr="preencoded.png"/>
          <p:cNvPicPr>
            <a:picLocks noChangeAspect="1"/>
          </p:cNvPicPr>
          <p:nvPr/>
        </p:nvPicPr>
        <p:blipFill>
          <a:blip r:embed="rId3"/>
          <a:stretch>
            <a:fillRect/>
          </a:stretch>
        </p:blipFill>
        <p:spPr>
          <a:xfrm>
            <a:off x="1515145" y="855166"/>
            <a:ext cx="2948806" cy="2948806"/>
          </a:xfrm>
          <a:prstGeom prst="rect">
            <a:avLst/>
          </a:prstGeom>
        </p:spPr>
      </p:pic>
      <p:sp>
        <p:nvSpPr>
          <p:cNvPr id="4" name="Text 1"/>
          <p:cNvSpPr/>
          <p:nvPr/>
        </p:nvSpPr>
        <p:spPr>
          <a:xfrm>
            <a:off x="4684812" y="1845618"/>
            <a:ext cx="1867719" cy="138410"/>
          </a:xfrm>
          <a:prstGeom prst="rect">
            <a:avLst/>
          </a:prstGeom>
          <a:noFill/>
          <a:ln/>
        </p:spPr>
        <p:txBody>
          <a:bodyPr wrap="none" lIns="0" tIns="0" rIns="0" bIns="0" rtlCol="0" anchor="t"/>
          <a:lstStyle/>
          <a:p>
            <a:pPr marL="0" indent="0" algn="l">
              <a:lnSpc>
                <a:spcPct val="104000"/>
              </a:lnSpc>
              <a:buNone/>
            </a:pPr>
            <a:r>
              <a:rPr lang="en-US" sz="850" dirty="0">
                <a:solidFill>
                  <a:srgbClr val="231971"/>
                </a:solidFill>
                <a:latin typeface="Outfit ExtraBold" pitchFamily="34" charset="0"/>
                <a:ea typeface="Outfit ExtraBold" pitchFamily="34" charset="-122"/>
                <a:cs typeface="Outfit ExtraBold" pitchFamily="34" charset="-120"/>
              </a:rPr>
              <a:t>Limitaciones de RNN y CNN</a:t>
            </a:r>
            <a:endParaRPr lang="en-US" sz="850" dirty="0"/>
          </a:p>
        </p:txBody>
      </p:sp>
      <p:sp>
        <p:nvSpPr>
          <p:cNvPr id="5" name="Text 2"/>
          <p:cNvSpPr/>
          <p:nvPr/>
        </p:nvSpPr>
        <p:spPr>
          <a:xfrm>
            <a:off x="4684812" y="2039392"/>
            <a:ext cx="2948806" cy="499467"/>
          </a:xfrm>
          <a:prstGeom prst="rect">
            <a:avLst/>
          </a:prstGeom>
          <a:noFill/>
          <a:ln/>
        </p:spPr>
        <p:txBody>
          <a:bodyPr wrap="square" lIns="0" tIns="0" rIns="0" bIns="0" rtlCol="0" anchor="t">
            <a:normAutofit/>
          </a:bodyPr>
          <a:lstStyle/>
          <a:p>
            <a:pPr marL="342900" indent="-342900" algn="l">
              <a:lnSpc>
                <a:spcPct val="108000"/>
              </a:lnSpc>
              <a:buSzPct val="100000"/>
              <a:buChar char="•"/>
            </a:pPr>
            <a:r>
              <a:rPr lang="en-US" sz="650" b="1" dirty="0">
                <a:solidFill>
                  <a:srgbClr val="2A2742"/>
                </a:solidFill>
                <a:latin typeface="Arimo" pitchFamily="34" charset="0"/>
                <a:ea typeface="Arimo" pitchFamily="34" charset="-122"/>
                <a:cs typeface="Arimo" pitchFamily="34" charset="-120"/>
              </a:rPr>
              <a:t>Procesamiento secuencial</a:t>
            </a:r>
            <a:r>
              <a:rPr lang="en-US" sz="650" dirty="0">
                <a:solidFill>
                  <a:srgbClr val="2A2742"/>
                </a:solidFill>
                <a:latin typeface="Arimo" pitchFamily="34" charset="0"/>
                <a:ea typeface="Arimo" pitchFamily="34" charset="-122"/>
                <a:cs typeface="Arimo" pitchFamily="34" charset="-120"/>
              </a:rPr>
              <a:t> que impide paralelización eficiente</a:t>
            </a:r>
            <a:endParaRPr lang="en-US" sz="650" dirty="0"/>
          </a:p>
          <a:p>
            <a:pPr marL="342900" indent="-342900" algn="l">
              <a:lnSpc>
                <a:spcPct val="108000"/>
              </a:lnSpc>
              <a:buSzPct val="100000"/>
              <a:buChar char="•"/>
            </a:pPr>
            <a:r>
              <a:rPr lang="en-US" sz="650" b="1" dirty="0">
                <a:solidFill>
                  <a:srgbClr val="2A2742"/>
                </a:solidFill>
                <a:latin typeface="Arimo" pitchFamily="34" charset="0"/>
                <a:ea typeface="Arimo" pitchFamily="34" charset="-122"/>
                <a:cs typeface="Arimo" pitchFamily="34" charset="-120"/>
              </a:rPr>
              <a:t>Dependencias de largo alcance</a:t>
            </a:r>
            <a:r>
              <a:rPr lang="en-US" sz="650" dirty="0">
                <a:solidFill>
                  <a:srgbClr val="2A2742"/>
                </a:solidFill>
                <a:latin typeface="Arimo" pitchFamily="34" charset="0"/>
                <a:ea typeface="Arimo" pitchFamily="34" charset="-122"/>
                <a:cs typeface="Arimo" pitchFamily="34" charset="-120"/>
              </a:rPr>
              <a:t> difíciles de capturar (vanishing gradient)</a:t>
            </a:r>
            <a:endParaRPr lang="en-US" sz="650" dirty="0"/>
          </a:p>
          <a:p>
            <a:pPr marL="342900" indent="-342900" algn="l">
              <a:lnSpc>
                <a:spcPct val="108000"/>
              </a:lnSpc>
              <a:buSzPct val="100000"/>
              <a:buChar char="•"/>
            </a:pPr>
            <a:r>
              <a:rPr lang="en-US" sz="650" b="1" dirty="0">
                <a:solidFill>
                  <a:srgbClr val="2A2742"/>
                </a:solidFill>
                <a:latin typeface="Arimo" pitchFamily="34" charset="0"/>
                <a:ea typeface="Arimo" pitchFamily="34" charset="-122"/>
                <a:cs typeface="Arimo" pitchFamily="34" charset="-120"/>
              </a:rPr>
              <a:t>Alto coste computacional</a:t>
            </a:r>
            <a:r>
              <a:rPr lang="en-US" sz="650" dirty="0">
                <a:solidFill>
                  <a:srgbClr val="2A2742"/>
                </a:solidFill>
                <a:latin typeface="Arimo" pitchFamily="34" charset="0"/>
                <a:ea typeface="Arimo" pitchFamily="34" charset="-122"/>
                <a:cs typeface="Arimo" pitchFamily="34" charset="-120"/>
              </a:rPr>
              <a:t> en secuencias largas</a:t>
            </a:r>
            <a:endParaRPr lang="en-US" sz="650" dirty="0"/>
          </a:p>
        </p:txBody>
      </p:sp>
      <p:sp>
        <p:nvSpPr>
          <p:cNvPr id="6" name="Text 3"/>
          <p:cNvSpPr/>
          <p:nvPr/>
        </p:nvSpPr>
        <p:spPr>
          <a:xfrm>
            <a:off x="4684812" y="2588642"/>
            <a:ext cx="2948806" cy="230386"/>
          </a:xfrm>
          <a:prstGeom prst="rect">
            <a:avLst/>
          </a:prstGeom>
          <a:noFill/>
          <a:ln/>
        </p:spPr>
        <p:txBody>
          <a:bodyPr wrap="square" lIns="0" tIns="0" rIns="0" bIns="0" rtlCol="0" anchor="t">
            <a:normAutofit/>
          </a:bodyPr>
          <a:lstStyle/>
          <a:p>
            <a:pPr marL="0" indent="0" algn="l">
              <a:lnSpc>
                <a:spcPct val="108000"/>
              </a:lnSpc>
              <a:buNone/>
            </a:pPr>
            <a:r>
              <a:rPr lang="en-US" sz="650" dirty="0">
                <a:solidFill>
                  <a:srgbClr val="2A2742"/>
                </a:solidFill>
                <a:latin typeface="Arimo" pitchFamily="34" charset="0"/>
                <a:ea typeface="Arimo" pitchFamily="34" charset="-122"/>
                <a:cs typeface="Arimo" pitchFamily="34" charset="-120"/>
              </a:rPr>
              <a:t>El Transformer propone atención global directa sin recurrencia ni convolución.</a:t>
            </a:r>
            <a:endParaRPr lang="en-US" sz="650" dirty="0"/>
          </a:p>
        </p:txBody>
      </p:sp>
      <p:sp>
        <p:nvSpPr>
          <p:cNvPr id="7" name="Shape 4"/>
          <p:cNvSpPr/>
          <p:nvPr/>
        </p:nvSpPr>
        <p:spPr>
          <a:xfrm>
            <a:off x="1515145" y="3928542"/>
            <a:ext cx="6113711" cy="719733"/>
          </a:xfrm>
          <a:prstGeom prst="roundRect">
            <a:avLst>
              <a:gd name="adj" fmla="val 5171"/>
            </a:avLst>
          </a:prstGeom>
          <a:solidFill>
            <a:srgbClr val="C3BCF6"/>
          </a:solidFill>
          <a:ln/>
        </p:spPr>
      </p:sp>
      <p:pic>
        <p:nvPicPr>
          <p:cNvPr id="8" name="Image 1" descr="preencoded.png"/>
          <p:cNvPicPr>
            <a:picLocks noChangeAspect="1"/>
          </p:cNvPicPr>
          <p:nvPr/>
        </p:nvPicPr>
        <p:blipFill>
          <a:blip r:embed="rId4"/>
          <a:stretch>
            <a:fillRect/>
          </a:stretch>
        </p:blipFill>
        <p:spPr>
          <a:xfrm>
            <a:off x="1603697" y="4042618"/>
            <a:ext cx="110728" cy="88553"/>
          </a:xfrm>
          <a:prstGeom prst="rect">
            <a:avLst/>
          </a:prstGeom>
        </p:spPr>
      </p:pic>
      <p:sp>
        <p:nvSpPr>
          <p:cNvPr id="9" name="Text 5"/>
          <p:cNvSpPr/>
          <p:nvPr/>
        </p:nvSpPr>
        <p:spPr>
          <a:xfrm>
            <a:off x="1802978" y="4000426"/>
            <a:ext cx="5737324" cy="575965"/>
          </a:xfrm>
          <a:prstGeom prst="rect">
            <a:avLst/>
          </a:prstGeom>
          <a:noFill/>
          <a:ln/>
        </p:spPr>
        <p:txBody>
          <a:bodyPr wrap="square" lIns="0" tIns="0" rIns="0" bIns="0" rtlCol="0" anchor="t">
            <a:normAutofit/>
          </a:bodyPr>
          <a:lstStyle/>
          <a:p>
            <a:pPr marL="0" indent="0" algn="l">
              <a:lnSpc>
                <a:spcPct val="108000"/>
              </a:lnSpc>
              <a:buNone/>
            </a:pPr>
            <a:r>
              <a:rPr lang="en-US" sz="650" b="1" dirty="0">
                <a:solidFill>
                  <a:srgbClr val="000000"/>
                </a:solidFill>
                <a:latin typeface="Arimo" pitchFamily="34" charset="0"/>
                <a:ea typeface="Arimo" pitchFamily="34" charset="-122"/>
                <a:cs typeface="Arimo" pitchFamily="34" charset="-120"/>
              </a:rPr>
              <a:t>Notas del presentador:</a:t>
            </a:r>
            <a:r>
              <a:rPr lang="en-US" sz="650" dirty="0">
                <a:solidFill>
                  <a:srgbClr val="000000"/>
                </a:solidFill>
                <a:latin typeface="Arimo" pitchFamily="34" charset="0"/>
                <a:ea typeface="Arimo" pitchFamily="34" charset="-122"/>
                <a:cs typeface="Arimo" pitchFamily="34" charset="-120"/>
              </a:rPr>
              <a:t> Antes del Transformer, las arquitecturas dominantes para secuencias eran las RNN y sus variantes como LSTM y GRU. Su principal limitación es el procesamiento secuencial: cada paso depende del anterior, lo que impide paralelización masiva en GPU. Además, capturar dependencias de largo alcance es costoso y propenso al problema del vanishing gradient. Las CNN intentaron resolverlo con convoluciones, pero requieren múltiples capas para alcanzar dependencias distantes. El Transformer propone una solución radical: atención global directa en un solo paso, totalmente paralelizable.</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744414" y="421481"/>
            <a:ext cx="4892055" cy="256059"/>
          </a:xfrm>
          <a:prstGeom prst="rect">
            <a:avLst/>
          </a:prstGeom>
          <a:noFill/>
          <a:ln/>
        </p:spPr>
        <p:txBody>
          <a:bodyPr wrap="none" lIns="0" tIns="0" rIns="0" bIns="0" rtlCol="0" anchor="t"/>
          <a:lstStyle/>
          <a:p>
            <a:pPr marL="0" indent="0" algn="l">
              <a:lnSpc>
                <a:spcPct val="104000"/>
              </a:lnSpc>
              <a:buNone/>
            </a:pPr>
            <a:r>
              <a:rPr lang="en-US" sz="1600" dirty="0">
                <a:solidFill>
                  <a:srgbClr val="231971"/>
                </a:solidFill>
                <a:latin typeface="Outfit ExtraBold" pitchFamily="34" charset="0"/>
                <a:ea typeface="Outfit ExtraBold" pitchFamily="34" charset="-122"/>
                <a:cs typeface="Outfit ExtraBold" pitchFamily="34" charset="-120"/>
              </a:rPr>
              <a:t>Arquitectura Transformer: Innovaciones Clave</a:t>
            </a:r>
            <a:endParaRPr lang="en-US" sz="1600" dirty="0"/>
          </a:p>
        </p:txBody>
      </p:sp>
      <p:pic>
        <p:nvPicPr>
          <p:cNvPr id="3" name="Image 0" descr="preencoded.png"/>
          <p:cNvPicPr>
            <a:picLocks noChangeAspect="1"/>
          </p:cNvPicPr>
          <p:nvPr/>
        </p:nvPicPr>
        <p:blipFill>
          <a:blip r:embed="rId3"/>
          <a:stretch>
            <a:fillRect/>
          </a:stretch>
        </p:blipFill>
        <p:spPr>
          <a:xfrm>
            <a:off x="2998738" y="772269"/>
            <a:ext cx="3146524" cy="3146450"/>
          </a:xfrm>
          <a:prstGeom prst="rect">
            <a:avLst/>
          </a:prstGeom>
        </p:spPr>
      </p:pic>
      <p:sp>
        <p:nvSpPr>
          <p:cNvPr id="4" name="Text 1"/>
          <p:cNvSpPr/>
          <p:nvPr/>
        </p:nvSpPr>
        <p:spPr>
          <a:xfrm>
            <a:off x="3304360" y="1331751"/>
            <a:ext cx="1013849" cy="159049"/>
          </a:xfrm>
          <a:prstGeom prst="rect">
            <a:avLst/>
          </a:prstGeom>
          <a:noFill/>
          <a:ln/>
        </p:spPr>
        <p:txBody>
          <a:bodyPr wrap="none" lIns="0" tIns="0" rIns="0" bIns="0" rtlCol="0" anchor="t"/>
          <a:lstStyle/>
          <a:p>
            <a:pPr marL="0" indent="0" algn="ctr">
              <a:lnSpc>
                <a:spcPct val="104000"/>
              </a:lnSpc>
              <a:buNone/>
            </a:pPr>
            <a:r>
              <a:rPr lang="en-US" sz="1000" dirty="0">
                <a:solidFill>
                  <a:srgbClr val="FFFFFF"/>
                </a:solidFill>
                <a:latin typeface="Outfit ExtraBold" pitchFamily="34" charset="0"/>
                <a:ea typeface="Outfit ExtraBold" pitchFamily="34" charset="-122"/>
                <a:cs typeface="Outfit ExtraBold" pitchFamily="34" charset="-120"/>
              </a:rPr>
              <a:t>Codificación</a:t>
            </a:r>
            <a:endParaRPr lang="en-US" sz="1000" dirty="0"/>
          </a:p>
        </p:txBody>
      </p:sp>
      <p:sp>
        <p:nvSpPr>
          <p:cNvPr id="5" name="Text 2"/>
          <p:cNvSpPr/>
          <p:nvPr/>
        </p:nvSpPr>
        <p:spPr>
          <a:xfrm>
            <a:off x="3304360" y="1536040"/>
            <a:ext cx="1013849" cy="301133"/>
          </a:xfrm>
          <a:prstGeom prst="rect">
            <a:avLst/>
          </a:prstGeom>
          <a:noFill/>
          <a:ln/>
        </p:spPr>
        <p:txBody>
          <a:bodyPr wrap="square" lIns="0" tIns="0" rIns="0" bIns="0" rtlCol="0" anchor="t">
            <a:normAutofit/>
          </a:bodyPr>
          <a:lstStyle/>
          <a:p>
            <a:pPr marL="0" indent="0" algn="ctr">
              <a:lnSpc>
                <a:spcPct val="82000"/>
              </a:lnSpc>
              <a:buNone/>
            </a:pPr>
            <a:r>
              <a:rPr lang="en-US" sz="800" dirty="0">
                <a:solidFill>
                  <a:srgbClr val="FFFFFF"/>
                </a:solidFill>
                <a:latin typeface="Arimo" pitchFamily="34" charset="0"/>
                <a:ea typeface="Arimo" pitchFamily="34" charset="-122"/>
                <a:cs typeface="Arimo" pitchFamily="34" charset="-120"/>
              </a:rPr>
              <a:t>Añade orden secuencial a los embeddings.</a:t>
            </a:r>
            <a:endParaRPr lang="en-US" sz="800" dirty="0"/>
          </a:p>
        </p:txBody>
      </p:sp>
      <p:sp>
        <p:nvSpPr>
          <p:cNvPr id="6" name="Text 3"/>
          <p:cNvSpPr/>
          <p:nvPr/>
        </p:nvSpPr>
        <p:spPr>
          <a:xfrm>
            <a:off x="4831230" y="1331751"/>
            <a:ext cx="1013849" cy="159049"/>
          </a:xfrm>
          <a:prstGeom prst="rect">
            <a:avLst/>
          </a:prstGeom>
          <a:noFill/>
          <a:ln/>
        </p:spPr>
        <p:txBody>
          <a:bodyPr wrap="none" lIns="0" tIns="0" rIns="0" bIns="0" rtlCol="0" anchor="t"/>
          <a:lstStyle/>
          <a:p>
            <a:pPr marL="0" indent="0" algn="ctr">
              <a:lnSpc>
                <a:spcPct val="104000"/>
              </a:lnSpc>
              <a:buNone/>
            </a:pPr>
            <a:r>
              <a:rPr lang="en-US" sz="1000" dirty="0">
                <a:solidFill>
                  <a:srgbClr val="FFFFFF"/>
                </a:solidFill>
                <a:latin typeface="Outfit ExtraBold" pitchFamily="34" charset="0"/>
                <a:ea typeface="Outfit ExtraBold" pitchFamily="34" charset="-122"/>
                <a:cs typeface="Outfit ExtraBold" pitchFamily="34" charset="-120"/>
              </a:rPr>
              <a:t>Auto‑atención</a:t>
            </a:r>
            <a:endParaRPr lang="en-US" sz="1000" dirty="0"/>
          </a:p>
        </p:txBody>
      </p:sp>
      <p:sp>
        <p:nvSpPr>
          <p:cNvPr id="7" name="Text 4"/>
          <p:cNvSpPr/>
          <p:nvPr/>
        </p:nvSpPr>
        <p:spPr>
          <a:xfrm>
            <a:off x="4831230" y="1536040"/>
            <a:ext cx="1013849" cy="301133"/>
          </a:xfrm>
          <a:prstGeom prst="rect">
            <a:avLst/>
          </a:prstGeom>
          <a:noFill/>
          <a:ln/>
        </p:spPr>
        <p:txBody>
          <a:bodyPr wrap="square" lIns="0" tIns="0" rIns="0" bIns="0" rtlCol="0" anchor="t">
            <a:normAutofit/>
          </a:bodyPr>
          <a:lstStyle/>
          <a:p>
            <a:pPr marL="0" indent="0" algn="ctr">
              <a:lnSpc>
                <a:spcPct val="82000"/>
              </a:lnSpc>
              <a:buNone/>
            </a:pPr>
            <a:r>
              <a:rPr lang="en-US" sz="800" dirty="0">
                <a:solidFill>
                  <a:srgbClr val="FFFFFF"/>
                </a:solidFill>
                <a:latin typeface="Arimo" pitchFamily="34" charset="0"/>
                <a:ea typeface="Arimo" pitchFamily="34" charset="-122"/>
                <a:cs typeface="Arimo" pitchFamily="34" charset="-120"/>
              </a:rPr>
              <a:t>Calcula relevancia entre todos los tokens.</a:t>
            </a:r>
            <a:endParaRPr lang="en-US" sz="800" dirty="0"/>
          </a:p>
        </p:txBody>
      </p:sp>
      <p:sp>
        <p:nvSpPr>
          <p:cNvPr id="8" name="Text 5"/>
          <p:cNvSpPr/>
          <p:nvPr/>
        </p:nvSpPr>
        <p:spPr>
          <a:xfrm>
            <a:off x="3304448" y="2908721"/>
            <a:ext cx="1013849" cy="159049"/>
          </a:xfrm>
          <a:prstGeom prst="rect">
            <a:avLst/>
          </a:prstGeom>
          <a:noFill/>
          <a:ln/>
        </p:spPr>
        <p:txBody>
          <a:bodyPr wrap="none" lIns="0" tIns="0" rIns="0" bIns="0" rtlCol="0" anchor="t"/>
          <a:lstStyle/>
          <a:p>
            <a:pPr marL="0" indent="0" algn="ctr">
              <a:lnSpc>
                <a:spcPct val="104000"/>
              </a:lnSpc>
              <a:buNone/>
            </a:pPr>
            <a:r>
              <a:rPr lang="en-US" sz="1000" dirty="0">
                <a:solidFill>
                  <a:srgbClr val="FFFFFF"/>
                </a:solidFill>
                <a:latin typeface="Outfit ExtraBold" pitchFamily="34" charset="0"/>
                <a:ea typeface="Outfit ExtraBold" pitchFamily="34" charset="-122"/>
                <a:cs typeface="Outfit ExtraBold" pitchFamily="34" charset="-120"/>
              </a:rPr>
              <a:t>Multi‑cabezas</a:t>
            </a:r>
            <a:endParaRPr lang="en-US" sz="1000" dirty="0"/>
          </a:p>
        </p:txBody>
      </p:sp>
      <p:sp>
        <p:nvSpPr>
          <p:cNvPr id="9" name="Text 6"/>
          <p:cNvSpPr/>
          <p:nvPr/>
        </p:nvSpPr>
        <p:spPr>
          <a:xfrm>
            <a:off x="3304448" y="3113011"/>
            <a:ext cx="1013849" cy="200755"/>
          </a:xfrm>
          <a:prstGeom prst="rect">
            <a:avLst/>
          </a:prstGeom>
          <a:noFill/>
          <a:ln/>
        </p:spPr>
        <p:txBody>
          <a:bodyPr wrap="square" lIns="0" tIns="0" rIns="0" bIns="0" rtlCol="0" anchor="t">
            <a:normAutofit lnSpcReduction="10000"/>
          </a:bodyPr>
          <a:lstStyle/>
          <a:p>
            <a:pPr marL="0" indent="0" algn="ctr">
              <a:lnSpc>
                <a:spcPct val="82000"/>
              </a:lnSpc>
              <a:buNone/>
            </a:pPr>
            <a:r>
              <a:rPr lang="en-US" sz="800" dirty="0">
                <a:solidFill>
                  <a:srgbClr val="FFFFFF"/>
                </a:solidFill>
                <a:latin typeface="Arimo" pitchFamily="34" charset="0"/>
                <a:ea typeface="Arimo" pitchFamily="34" charset="-122"/>
                <a:cs typeface="Arimo" pitchFamily="34" charset="-120"/>
              </a:rPr>
              <a:t>Varios attentions para relaciones distintas.</a:t>
            </a:r>
            <a:endParaRPr lang="en-US" sz="800" dirty="0"/>
          </a:p>
        </p:txBody>
      </p:sp>
      <p:sp>
        <p:nvSpPr>
          <p:cNvPr id="10" name="Text 7"/>
          <p:cNvSpPr/>
          <p:nvPr/>
        </p:nvSpPr>
        <p:spPr>
          <a:xfrm>
            <a:off x="4831230" y="2829196"/>
            <a:ext cx="1013849" cy="318098"/>
          </a:xfrm>
          <a:prstGeom prst="rect">
            <a:avLst/>
          </a:prstGeom>
          <a:noFill/>
          <a:ln/>
        </p:spPr>
        <p:txBody>
          <a:bodyPr wrap="square" lIns="0" tIns="0" rIns="0" bIns="0" rtlCol="0" anchor="t">
            <a:normAutofit/>
          </a:bodyPr>
          <a:lstStyle/>
          <a:p>
            <a:pPr marL="0" indent="0" algn="ctr">
              <a:lnSpc>
                <a:spcPct val="104000"/>
              </a:lnSpc>
              <a:buNone/>
            </a:pPr>
            <a:r>
              <a:rPr lang="en-US" sz="1000" dirty="0">
                <a:solidFill>
                  <a:srgbClr val="FFFFFF"/>
                </a:solidFill>
                <a:latin typeface="Outfit ExtraBold" pitchFamily="34" charset="0"/>
                <a:ea typeface="Outfit ExtraBold" pitchFamily="34" charset="-122"/>
                <a:cs typeface="Outfit ExtraBold" pitchFamily="34" charset="-120"/>
              </a:rPr>
              <a:t>Encoder‑Decoder</a:t>
            </a:r>
            <a:endParaRPr lang="en-US" sz="1000" dirty="0"/>
          </a:p>
        </p:txBody>
      </p:sp>
      <p:sp>
        <p:nvSpPr>
          <p:cNvPr id="11" name="Text 8"/>
          <p:cNvSpPr/>
          <p:nvPr/>
        </p:nvSpPr>
        <p:spPr>
          <a:xfrm>
            <a:off x="4831230" y="3192535"/>
            <a:ext cx="1013849" cy="200755"/>
          </a:xfrm>
          <a:prstGeom prst="rect">
            <a:avLst/>
          </a:prstGeom>
          <a:noFill/>
          <a:ln/>
        </p:spPr>
        <p:txBody>
          <a:bodyPr wrap="square" lIns="0" tIns="0" rIns="0" bIns="0" rtlCol="0" anchor="t">
            <a:normAutofit lnSpcReduction="10000"/>
          </a:bodyPr>
          <a:lstStyle/>
          <a:p>
            <a:pPr marL="0" indent="0" algn="ctr">
              <a:lnSpc>
                <a:spcPct val="82000"/>
              </a:lnSpc>
              <a:buNone/>
            </a:pPr>
            <a:r>
              <a:rPr lang="en-US" sz="800" dirty="0">
                <a:solidFill>
                  <a:srgbClr val="FFFFFF"/>
                </a:solidFill>
                <a:latin typeface="Arimo" pitchFamily="34" charset="0"/>
                <a:ea typeface="Arimo" pitchFamily="34" charset="-122"/>
                <a:cs typeface="Arimo" pitchFamily="34" charset="-120"/>
              </a:rPr>
              <a:t>Pilas de 6 capas con residuales y LN.</a:t>
            </a:r>
            <a:endParaRPr lang="en-US" sz="800" dirty="0"/>
          </a:p>
        </p:txBody>
      </p:sp>
      <p:sp>
        <p:nvSpPr>
          <p:cNvPr id="12" name="Text 9"/>
          <p:cNvSpPr/>
          <p:nvPr/>
        </p:nvSpPr>
        <p:spPr>
          <a:xfrm>
            <a:off x="1744414" y="3971999"/>
            <a:ext cx="6112371" cy="103436"/>
          </a:xfrm>
          <a:prstGeom prst="rect">
            <a:avLst/>
          </a:prstGeom>
          <a:noFill/>
          <a:ln/>
        </p:spPr>
        <p:txBody>
          <a:bodyPr wrap="none" lIns="0" tIns="0" rIns="0" bIns="0" rtlCol="0" anchor="t"/>
          <a:lstStyle/>
          <a:p>
            <a:pPr marL="0" indent="0" algn="l">
              <a:lnSpc>
                <a:spcPct val="105000"/>
              </a:lnSpc>
              <a:buNone/>
            </a:pPr>
            <a:r>
              <a:rPr lang="en-US" sz="600" dirty="0">
                <a:solidFill>
                  <a:srgbClr val="2A2742"/>
                </a:solidFill>
                <a:latin typeface="Arimo" pitchFamily="34" charset="0"/>
                <a:ea typeface="Arimo" pitchFamily="34" charset="-122"/>
                <a:cs typeface="Arimo" pitchFamily="34" charset="-120"/>
              </a:rPr>
              <a:t>El Transformer reemplaza la recurrencia por </a:t>
            </a:r>
            <a:r>
              <a:rPr lang="en-US" sz="600" b="1" dirty="0">
                <a:solidFill>
                  <a:srgbClr val="5E4CE6"/>
                </a:solidFill>
                <a:latin typeface="Arimo" pitchFamily="34" charset="0"/>
                <a:ea typeface="Arimo" pitchFamily="34" charset="-122"/>
                <a:cs typeface="Arimo" pitchFamily="34" charset="-120"/>
              </a:rPr>
              <a:t>atención multi-cabeza</a:t>
            </a:r>
            <a:r>
              <a:rPr lang="en-US" sz="600" dirty="0">
                <a:solidFill>
                  <a:srgbClr val="2A2742"/>
                </a:solidFill>
                <a:latin typeface="Arimo" pitchFamily="34" charset="0"/>
                <a:ea typeface="Arimo" pitchFamily="34" charset="-122"/>
                <a:cs typeface="Arimo" pitchFamily="34" charset="-120"/>
              </a:rPr>
              <a:t>, permitiendo capturar dependencias globales en un único paso computacional.</a:t>
            </a:r>
            <a:endParaRPr lang="en-US" sz="600" dirty="0"/>
          </a:p>
        </p:txBody>
      </p:sp>
      <p:sp>
        <p:nvSpPr>
          <p:cNvPr id="13" name="Shape 10"/>
          <p:cNvSpPr/>
          <p:nvPr/>
        </p:nvSpPr>
        <p:spPr>
          <a:xfrm>
            <a:off x="1744414" y="4128715"/>
            <a:ext cx="5655171" cy="539948"/>
          </a:xfrm>
          <a:prstGeom prst="roundRect">
            <a:avLst>
              <a:gd name="adj" fmla="val 6375"/>
            </a:avLst>
          </a:prstGeom>
          <a:solidFill>
            <a:srgbClr val="C3BCF6"/>
          </a:solidFill>
          <a:ln/>
        </p:spPr>
      </p:sp>
      <p:pic>
        <p:nvPicPr>
          <p:cNvPr id="14" name="Image 1" descr="preencoded.png"/>
          <p:cNvPicPr>
            <a:picLocks noChangeAspect="1"/>
          </p:cNvPicPr>
          <p:nvPr/>
        </p:nvPicPr>
        <p:blipFill>
          <a:blip r:embed="rId4"/>
          <a:stretch>
            <a:fillRect/>
          </a:stretch>
        </p:blipFill>
        <p:spPr>
          <a:xfrm>
            <a:off x="1826344" y="4231109"/>
            <a:ext cx="102394" cy="81930"/>
          </a:xfrm>
          <a:prstGeom prst="rect">
            <a:avLst/>
          </a:prstGeom>
        </p:spPr>
      </p:pic>
      <p:sp>
        <p:nvSpPr>
          <p:cNvPr id="15" name="Text 11"/>
          <p:cNvSpPr/>
          <p:nvPr/>
        </p:nvSpPr>
        <p:spPr>
          <a:xfrm>
            <a:off x="2010668" y="4191819"/>
            <a:ext cx="5306988" cy="413742"/>
          </a:xfrm>
          <a:prstGeom prst="rect">
            <a:avLst/>
          </a:prstGeom>
          <a:noFill/>
          <a:ln/>
        </p:spPr>
        <p:txBody>
          <a:bodyPr wrap="square" lIns="0" tIns="0" rIns="0" bIns="0" rtlCol="0" anchor="t">
            <a:normAutofit/>
          </a:bodyPr>
          <a:lstStyle/>
          <a:p>
            <a:pPr marL="0" indent="0" algn="l">
              <a:lnSpc>
                <a:spcPct val="105000"/>
              </a:lnSpc>
              <a:buNone/>
            </a:pPr>
            <a:r>
              <a:rPr lang="en-US" sz="600" b="1" dirty="0">
                <a:solidFill>
                  <a:srgbClr val="000000"/>
                </a:solidFill>
                <a:latin typeface="Arimo" pitchFamily="34" charset="0"/>
                <a:ea typeface="Arimo" pitchFamily="34" charset="-122"/>
                <a:cs typeface="Arimo" pitchFamily="34" charset="-120"/>
              </a:rPr>
              <a:t>Notas del presentador:</a:t>
            </a:r>
            <a:r>
              <a:rPr lang="en-US" sz="600" dirty="0">
                <a:solidFill>
                  <a:srgbClr val="000000"/>
                </a:solidFill>
                <a:latin typeface="Arimo" pitchFamily="34" charset="0"/>
                <a:ea typeface="Arimo" pitchFamily="34" charset="-122"/>
                <a:cs typeface="Arimo" pitchFamily="34" charset="-120"/>
              </a:rPr>
              <a:t> El Transformer se basa en cuatro pilares. Primero, el codificador y decodificador apilados en seis capas con conexiones residuales y normalización. Segundo, el Self-Attention, que calcula la relevancia entre todos los pares de tokens simultáneamente. Tercero, Multi-Head Attention, que ejecuta varias cabezas de atención en paralelo para capturar distintos tipos de relaciones. Y cuarto, el Positional Encoding, que inyecta información de posición mediante senos y cosenos, ya que sin recurrencia el modelo no tiene noción inherente del orden.</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50912" y="391492"/>
            <a:ext cx="3971479" cy="346100"/>
          </a:xfrm>
          <a:prstGeom prst="rect">
            <a:avLst/>
          </a:prstGeom>
          <a:noFill/>
          <a:ln/>
        </p:spPr>
        <p:txBody>
          <a:bodyPr wrap="none" lIns="0" tIns="0" rIns="0" bIns="0" rtlCol="0" anchor="t"/>
          <a:lstStyle/>
          <a:p>
            <a:pPr marL="0" indent="0" algn="l">
              <a:lnSpc>
                <a:spcPct val="104000"/>
              </a:lnSpc>
              <a:buNone/>
            </a:pPr>
            <a:r>
              <a:rPr lang="en-US" sz="2150" dirty="0">
                <a:solidFill>
                  <a:srgbClr val="231971"/>
                </a:solidFill>
                <a:latin typeface="Outfit ExtraBold" pitchFamily="34" charset="0"/>
                <a:ea typeface="Outfit ExtraBold" pitchFamily="34" charset="-122"/>
                <a:cs typeface="Outfit ExtraBold" pitchFamily="34" charset="-120"/>
              </a:rPr>
              <a:t>Resultados Experimentales</a:t>
            </a:r>
            <a:endParaRPr lang="en-US" sz="2150" dirty="0"/>
          </a:p>
        </p:txBody>
      </p:sp>
      <p:pic>
        <p:nvPicPr>
          <p:cNvPr id="3" name="Image 0" descr="preencoded.png"/>
          <p:cNvPicPr>
            <a:picLocks noChangeAspect="1"/>
          </p:cNvPicPr>
          <p:nvPr/>
        </p:nvPicPr>
        <p:blipFill>
          <a:blip r:embed="rId3"/>
          <a:stretch>
            <a:fillRect/>
          </a:stretch>
        </p:blipFill>
        <p:spPr>
          <a:xfrm>
            <a:off x="750912" y="964704"/>
            <a:ext cx="3685952" cy="2653159"/>
          </a:xfrm>
          <a:prstGeom prst="rect">
            <a:avLst/>
          </a:prstGeom>
        </p:spPr>
      </p:pic>
      <p:sp>
        <p:nvSpPr>
          <p:cNvPr id="4" name="Text 1"/>
          <p:cNvSpPr/>
          <p:nvPr/>
        </p:nvSpPr>
        <p:spPr>
          <a:xfrm>
            <a:off x="4711750" y="953839"/>
            <a:ext cx="3519264" cy="173013"/>
          </a:xfrm>
          <a:prstGeom prst="rect">
            <a:avLst/>
          </a:prstGeom>
          <a:noFill/>
          <a:ln/>
        </p:spPr>
        <p:txBody>
          <a:bodyPr wrap="none" lIns="0" tIns="0" rIns="0" bIns="0" rtlCol="0" anchor="t"/>
          <a:lstStyle/>
          <a:p>
            <a:pPr marL="0" indent="0" algn="l">
              <a:lnSpc>
                <a:spcPct val="104000"/>
              </a:lnSpc>
              <a:buNone/>
            </a:pPr>
            <a:r>
              <a:rPr lang="en-US" sz="1050" dirty="0">
                <a:solidFill>
                  <a:srgbClr val="231971"/>
                </a:solidFill>
                <a:latin typeface="Outfit ExtraBold" pitchFamily="34" charset="0"/>
                <a:ea typeface="Outfit ExtraBold" pitchFamily="34" charset="-122"/>
                <a:cs typeface="Outfit ExtraBold" pitchFamily="34" charset="-120"/>
              </a:rPr>
              <a:t>Rendimiento superior en traducción automática</a:t>
            </a:r>
            <a:endParaRPr lang="en-US" sz="1050" dirty="0"/>
          </a:p>
        </p:txBody>
      </p:sp>
      <p:sp>
        <p:nvSpPr>
          <p:cNvPr id="5" name="Text 2"/>
          <p:cNvSpPr/>
          <p:nvPr/>
        </p:nvSpPr>
        <p:spPr>
          <a:xfrm>
            <a:off x="4711750" y="1213321"/>
            <a:ext cx="3685952" cy="721668"/>
          </a:xfrm>
          <a:prstGeom prst="rect">
            <a:avLst/>
          </a:prstGeom>
          <a:noFill/>
          <a:ln/>
        </p:spPr>
        <p:txBody>
          <a:bodyPr wrap="square" lIns="0" tIns="0" rIns="0" bIns="0" rtlCol="0" anchor="t">
            <a:normAutofit/>
          </a:bodyPr>
          <a:lstStyle/>
          <a:p>
            <a:pPr marL="342900" indent="-342900" algn="l">
              <a:lnSpc>
                <a:spcPct val="119000"/>
              </a:lnSpc>
              <a:buSzPct val="100000"/>
              <a:buChar char="•"/>
            </a:pPr>
            <a:r>
              <a:rPr lang="en-US" sz="850" b="1" dirty="0">
                <a:solidFill>
                  <a:srgbClr val="2A2742"/>
                </a:solidFill>
                <a:latin typeface="Arimo" pitchFamily="34" charset="0"/>
                <a:ea typeface="Arimo" pitchFamily="34" charset="-122"/>
                <a:cs typeface="Arimo" pitchFamily="34" charset="-120"/>
              </a:rPr>
              <a:t>+2.1 BLEU</a:t>
            </a:r>
            <a:r>
              <a:rPr lang="en-US" sz="850" dirty="0">
                <a:solidFill>
                  <a:srgbClr val="2A2742"/>
                </a:solidFill>
                <a:latin typeface="Arimo" pitchFamily="34" charset="0"/>
                <a:ea typeface="Arimo" pitchFamily="34" charset="-122"/>
                <a:cs typeface="Arimo" pitchFamily="34" charset="-120"/>
              </a:rPr>
              <a:t> frente al mejor modelo previo (ConvS2S)</a:t>
            </a:r>
            <a:endParaRPr lang="en-US" sz="850" dirty="0"/>
          </a:p>
          <a:p>
            <a:pPr marL="342900" indent="-342900" algn="l">
              <a:lnSpc>
                <a:spcPct val="119000"/>
              </a:lnSpc>
              <a:buSzPct val="100000"/>
              <a:buChar char="•"/>
            </a:pPr>
            <a:r>
              <a:rPr lang="en-US" sz="850" b="1" dirty="0">
                <a:solidFill>
                  <a:srgbClr val="2A2742"/>
                </a:solidFill>
                <a:latin typeface="Arimo" pitchFamily="34" charset="0"/>
                <a:ea typeface="Arimo" pitchFamily="34" charset="-122"/>
                <a:cs typeface="Arimo" pitchFamily="34" charset="-120"/>
              </a:rPr>
              <a:t>3.5× menos FLOPs</a:t>
            </a:r>
            <a:r>
              <a:rPr lang="en-US" sz="850" dirty="0">
                <a:solidFill>
                  <a:srgbClr val="2A2742"/>
                </a:solidFill>
                <a:latin typeface="Arimo" pitchFamily="34" charset="0"/>
                <a:ea typeface="Arimo" pitchFamily="34" charset="-122"/>
                <a:cs typeface="Arimo" pitchFamily="34" charset="-120"/>
              </a:rPr>
              <a:t> que ConvS2S en entrenamiento</a:t>
            </a:r>
            <a:endParaRPr lang="en-US" sz="850" dirty="0"/>
          </a:p>
          <a:p>
            <a:pPr marL="342900" indent="-342900" algn="l">
              <a:lnSpc>
                <a:spcPct val="119000"/>
              </a:lnSpc>
              <a:buSzPct val="100000"/>
              <a:buChar char="•"/>
            </a:pPr>
            <a:r>
              <a:rPr lang="en-US" sz="850" dirty="0">
                <a:solidFill>
                  <a:srgbClr val="2A2742"/>
                </a:solidFill>
                <a:latin typeface="Arimo" pitchFamily="34" charset="0"/>
                <a:ea typeface="Arimo" pitchFamily="34" charset="-122"/>
                <a:cs typeface="Arimo" pitchFamily="34" charset="-120"/>
              </a:rPr>
              <a:t>Entrenamiento en </a:t>
            </a:r>
            <a:r>
              <a:rPr lang="en-US" sz="850" b="1" dirty="0">
                <a:solidFill>
                  <a:srgbClr val="2A2742"/>
                </a:solidFill>
                <a:latin typeface="Arimo" pitchFamily="34" charset="0"/>
                <a:ea typeface="Arimo" pitchFamily="34" charset="-122"/>
                <a:cs typeface="Arimo" pitchFamily="34" charset="-120"/>
              </a:rPr>
              <a:t>12 horas</a:t>
            </a:r>
            <a:r>
              <a:rPr lang="en-US" sz="850" dirty="0">
                <a:solidFill>
                  <a:srgbClr val="2A2742"/>
                </a:solidFill>
                <a:latin typeface="Arimo" pitchFamily="34" charset="0"/>
                <a:ea typeface="Arimo" pitchFamily="34" charset="-122"/>
                <a:cs typeface="Arimo" pitchFamily="34" charset="-120"/>
              </a:rPr>
              <a:t> con 8 GPUs P100</a:t>
            </a:r>
            <a:endParaRPr lang="en-US" sz="850" dirty="0"/>
          </a:p>
          <a:p>
            <a:pPr marL="342900" indent="-342900" algn="l">
              <a:lnSpc>
                <a:spcPct val="119000"/>
              </a:lnSpc>
              <a:buSzPct val="100000"/>
              <a:buChar char="•"/>
            </a:pPr>
            <a:r>
              <a:rPr lang="en-US" sz="850" dirty="0">
                <a:solidFill>
                  <a:srgbClr val="2A2742"/>
                </a:solidFill>
                <a:latin typeface="Arimo" pitchFamily="34" charset="0"/>
                <a:ea typeface="Arimo" pitchFamily="34" charset="-122"/>
                <a:cs typeface="Arimo" pitchFamily="34" charset="-120"/>
              </a:rPr>
              <a:t>Mejores resultados también en </a:t>
            </a:r>
            <a:r>
              <a:rPr lang="en-US" sz="850" b="1" dirty="0">
                <a:solidFill>
                  <a:srgbClr val="2A2742"/>
                </a:solidFill>
                <a:latin typeface="Arimo" pitchFamily="34" charset="0"/>
                <a:ea typeface="Arimo" pitchFamily="34" charset="-122"/>
                <a:cs typeface="Arimo" pitchFamily="34" charset="-120"/>
              </a:rPr>
              <a:t>EN→FR</a:t>
            </a:r>
            <a:r>
              <a:rPr lang="en-US" sz="850" dirty="0">
                <a:solidFill>
                  <a:srgbClr val="2A2742"/>
                </a:solidFill>
                <a:latin typeface="Arimo" pitchFamily="34" charset="0"/>
                <a:ea typeface="Arimo" pitchFamily="34" charset="-122"/>
                <a:cs typeface="Arimo" pitchFamily="34" charset="-120"/>
              </a:rPr>
              <a:t> (41.0 BLEU)</a:t>
            </a:r>
            <a:endParaRPr lang="en-US" sz="850" dirty="0"/>
          </a:p>
        </p:txBody>
      </p:sp>
      <p:sp>
        <p:nvSpPr>
          <p:cNvPr id="6" name="Shape 3"/>
          <p:cNvSpPr/>
          <p:nvPr/>
        </p:nvSpPr>
        <p:spPr>
          <a:xfrm>
            <a:off x="750912" y="3812530"/>
            <a:ext cx="7642101" cy="842070"/>
          </a:xfrm>
          <a:prstGeom prst="roundRect">
            <a:avLst>
              <a:gd name="adj" fmla="val 5524"/>
            </a:avLst>
          </a:prstGeom>
          <a:solidFill>
            <a:srgbClr val="C3BCF6"/>
          </a:solidFill>
          <a:ln/>
        </p:spPr>
      </p:sp>
      <p:pic>
        <p:nvPicPr>
          <p:cNvPr id="7" name="Image 1" descr="preencoded.png"/>
          <p:cNvPicPr>
            <a:picLocks noChangeAspect="1"/>
          </p:cNvPicPr>
          <p:nvPr/>
        </p:nvPicPr>
        <p:blipFill>
          <a:blip r:embed="rId4"/>
          <a:stretch>
            <a:fillRect/>
          </a:stretch>
        </p:blipFill>
        <p:spPr>
          <a:xfrm>
            <a:off x="861640" y="3958828"/>
            <a:ext cx="138410" cy="110728"/>
          </a:xfrm>
          <a:prstGeom prst="rect">
            <a:avLst/>
          </a:prstGeom>
        </p:spPr>
      </p:pic>
      <p:sp>
        <p:nvSpPr>
          <p:cNvPr id="8" name="Text 4"/>
          <p:cNvSpPr/>
          <p:nvPr/>
        </p:nvSpPr>
        <p:spPr>
          <a:xfrm>
            <a:off x="1110779" y="3918049"/>
            <a:ext cx="7171506" cy="631031"/>
          </a:xfrm>
          <a:prstGeom prst="rect">
            <a:avLst/>
          </a:prstGeom>
          <a:noFill/>
          <a:ln/>
        </p:spPr>
        <p:txBody>
          <a:bodyPr wrap="square" lIns="0" tIns="0" rIns="0" bIns="0" rtlCol="0" anchor="t">
            <a:normAutofit/>
          </a:bodyPr>
          <a:lstStyle/>
          <a:p>
            <a:pPr marL="0" indent="0" algn="l">
              <a:lnSpc>
                <a:spcPct val="119000"/>
              </a:lnSpc>
              <a:buNone/>
            </a:pPr>
            <a:r>
              <a:rPr lang="en-US" sz="850" b="1" dirty="0">
                <a:solidFill>
                  <a:srgbClr val="000000"/>
                </a:solidFill>
                <a:latin typeface="Arimo" pitchFamily="34" charset="0"/>
                <a:ea typeface="Arimo" pitchFamily="34" charset="-122"/>
                <a:cs typeface="Arimo" pitchFamily="34" charset="-120"/>
              </a:rPr>
              <a:t>Notas del presentador:</a:t>
            </a:r>
            <a:r>
              <a:rPr lang="en-US" sz="850" dirty="0">
                <a:solidFill>
                  <a:srgbClr val="000000"/>
                </a:solidFill>
                <a:latin typeface="Arimo" pitchFamily="34" charset="0"/>
                <a:ea typeface="Arimo" pitchFamily="34" charset="-122"/>
                <a:cs typeface="Arimo" pitchFamily="34" charset="-120"/>
              </a:rPr>
              <a:t> Los resultados en la tarea de traducción automática WMT 2014 inglés-alemán son contundentes. El Transformer base alcanza 27.3 BLEU, superando en más de dos puntos al mejor modelo previo, ConvS2S, con 25.2. La versión big llega a 28.4 BLEU. Pero lo más relevante es la eficiencia: el Transformer requiere 3.5 veces menos operaciones de punto flotante que ConvS2S y se entrena en solo doce horas con ocho GPUs P100. Estos resultados demuestran que la atención no solo es más precisa, sino también más eficiente computacionalmente.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535781"/>
            <a:ext cx="4658395" cy="373782"/>
          </a:xfrm>
          <a:prstGeom prst="rect">
            <a:avLst/>
          </a:prstGeom>
          <a:noFill/>
          <a:ln/>
        </p:spPr>
        <p:txBody>
          <a:bodyPr wrap="none" lIns="0" tIns="0" rIns="0" bIns="0" rtlCol="0" anchor="t"/>
          <a:lstStyle/>
          <a:p>
            <a:pPr marL="0" indent="0" algn="l">
              <a:lnSpc>
                <a:spcPct val="104000"/>
              </a:lnSpc>
              <a:buNone/>
            </a:pPr>
            <a:r>
              <a:rPr lang="en-US" sz="2350" dirty="0">
                <a:solidFill>
                  <a:srgbClr val="231971"/>
                </a:solidFill>
                <a:latin typeface="Outfit ExtraBold" pitchFamily="34" charset="0"/>
                <a:ea typeface="Outfit ExtraBold" pitchFamily="34" charset="-122"/>
                <a:cs typeface="Outfit ExtraBold" pitchFamily="34" charset="-120"/>
              </a:rPr>
              <a:t>Conclusiones y Análisis Crítico</a:t>
            </a:r>
            <a:endParaRPr lang="en-US" sz="2350" dirty="0"/>
          </a:p>
        </p:txBody>
      </p:sp>
      <p:sp>
        <p:nvSpPr>
          <p:cNvPr id="3" name="Shape 1"/>
          <p:cNvSpPr/>
          <p:nvPr/>
        </p:nvSpPr>
        <p:spPr>
          <a:xfrm>
            <a:off x="496119" y="1111374"/>
            <a:ext cx="2649959" cy="1629519"/>
          </a:xfrm>
          <a:prstGeom prst="roundRect">
            <a:avLst>
              <a:gd name="adj" fmla="val 3083"/>
            </a:avLst>
          </a:prstGeom>
          <a:solidFill>
            <a:srgbClr val="E9E6FA"/>
          </a:solidFill>
          <a:ln w="4763">
            <a:solidFill>
              <a:srgbClr val="BDB8DF"/>
            </a:solidFill>
            <a:prstDash val="solid"/>
          </a:ln>
        </p:spPr>
      </p:sp>
      <p:sp>
        <p:nvSpPr>
          <p:cNvPr id="4" name="Text 2"/>
          <p:cNvSpPr/>
          <p:nvPr/>
        </p:nvSpPr>
        <p:spPr>
          <a:xfrm>
            <a:off x="620464" y="1235720"/>
            <a:ext cx="1495202" cy="191616"/>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Outfit ExtraBold" pitchFamily="34" charset="0"/>
                <a:ea typeface="Outfit ExtraBold" pitchFamily="34" charset="-122"/>
                <a:cs typeface="Outfit ExtraBold" pitchFamily="34" charset="-120"/>
              </a:rPr>
              <a:t>✅</a:t>
            </a:r>
            <a:r>
              <a:rPr lang="en-US" sz="1150" dirty="0">
                <a:solidFill>
                  <a:srgbClr val="2A2742"/>
                </a:solidFill>
                <a:latin typeface="Outfit ExtraBold" pitchFamily="34" charset="0"/>
                <a:ea typeface="Outfit ExtraBold" pitchFamily="34" charset="-122"/>
                <a:cs typeface="Outfit ExtraBold" pitchFamily="34" charset="-120"/>
              </a:rPr>
              <a:t> Fortalezas</a:t>
            </a:r>
            <a:endParaRPr lang="en-US" sz="1150" dirty="0"/>
          </a:p>
        </p:txBody>
      </p:sp>
      <p:sp>
        <p:nvSpPr>
          <p:cNvPr id="5" name="Text 3"/>
          <p:cNvSpPr/>
          <p:nvPr/>
        </p:nvSpPr>
        <p:spPr>
          <a:xfrm>
            <a:off x="620464" y="1487835"/>
            <a:ext cx="2401267" cy="775990"/>
          </a:xfrm>
          <a:prstGeom prst="rect">
            <a:avLst/>
          </a:prstGeom>
          <a:noFill/>
          <a:ln/>
        </p:spPr>
        <p:txBody>
          <a:bodyPr wrap="square" lIns="0" tIns="0" rIns="0" bIns="0" rtlCol="0" anchor="t">
            <a:normAutofit/>
          </a:bodyPr>
          <a:lstStyle/>
          <a:p>
            <a:pPr marL="342900" indent="-342900" algn="l">
              <a:lnSpc>
                <a:spcPct val="123000"/>
              </a:lnSpc>
              <a:buSzPct val="100000"/>
              <a:buChar char="•"/>
            </a:pPr>
            <a:r>
              <a:rPr lang="en-US" sz="900" dirty="0">
                <a:solidFill>
                  <a:srgbClr val="2A2742"/>
                </a:solidFill>
                <a:latin typeface="Arimo" pitchFamily="34" charset="0"/>
                <a:ea typeface="Arimo" pitchFamily="34" charset="-122"/>
                <a:cs typeface="Arimo" pitchFamily="34" charset="-120"/>
              </a:rPr>
              <a:t>Paralelización total en GPU/TPU</a:t>
            </a:r>
            <a:endParaRPr lang="en-US" sz="900" dirty="0"/>
          </a:p>
          <a:p>
            <a:pPr marL="342900" indent="-342900" algn="l">
              <a:lnSpc>
                <a:spcPct val="123000"/>
              </a:lnSpc>
              <a:buSzPct val="100000"/>
              <a:buChar char="•"/>
            </a:pPr>
            <a:r>
              <a:rPr lang="en-US" sz="900" dirty="0">
                <a:solidFill>
                  <a:srgbClr val="2A2742"/>
                </a:solidFill>
                <a:latin typeface="Arimo" pitchFamily="34" charset="0"/>
                <a:ea typeface="Arimo" pitchFamily="34" charset="-122"/>
                <a:cs typeface="Arimo" pitchFamily="34" charset="-120"/>
              </a:rPr>
              <a:t>Dependencias de largo alcance en un paso</a:t>
            </a:r>
            <a:endParaRPr lang="en-US" sz="900" dirty="0"/>
          </a:p>
          <a:p>
            <a:pPr marL="342900" indent="-342900" algn="l">
              <a:lnSpc>
                <a:spcPct val="123000"/>
              </a:lnSpc>
              <a:buSzPct val="100000"/>
              <a:buChar char="•"/>
            </a:pPr>
            <a:r>
              <a:rPr lang="en-US" sz="900" dirty="0">
                <a:solidFill>
                  <a:srgbClr val="2A2742"/>
                </a:solidFill>
                <a:latin typeface="Arimo" pitchFamily="34" charset="0"/>
                <a:ea typeface="Arimo" pitchFamily="34" charset="-122"/>
                <a:cs typeface="Arimo" pitchFamily="34" charset="-120"/>
              </a:rPr>
              <a:t>Arquitectura escalable y flexible</a:t>
            </a:r>
            <a:endParaRPr lang="en-US" sz="900" dirty="0"/>
          </a:p>
        </p:txBody>
      </p:sp>
      <p:sp>
        <p:nvSpPr>
          <p:cNvPr id="6" name="Shape 4"/>
          <p:cNvSpPr/>
          <p:nvPr/>
        </p:nvSpPr>
        <p:spPr>
          <a:xfrm>
            <a:off x="3246983" y="1111374"/>
            <a:ext cx="2649959" cy="1629519"/>
          </a:xfrm>
          <a:prstGeom prst="roundRect">
            <a:avLst>
              <a:gd name="adj" fmla="val 3083"/>
            </a:avLst>
          </a:prstGeom>
          <a:solidFill>
            <a:srgbClr val="E9E6FA"/>
          </a:solidFill>
          <a:ln w="4763">
            <a:solidFill>
              <a:srgbClr val="BDB8DF"/>
            </a:solidFill>
            <a:prstDash val="solid"/>
          </a:ln>
        </p:spPr>
      </p:sp>
      <p:sp>
        <p:nvSpPr>
          <p:cNvPr id="7" name="Text 5"/>
          <p:cNvSpPr/>
          <p:nvPr/>
        </p:nvSpPr>
        <p:spPr>
          <a:xfrm>
            <a:off x="3371329" y="1235720"/>
            <a:ext cx="1495202" cy="191616"/>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Outfit ExtraBold" pitchFamily="34" charset="0"/>
                <a:ea typeface="Outfit ExtraBold" pitchFamily="34" charset="-122"/>
                <a:cs typeface="Outfit ExtraBold" pitchFamily="34" charset="-120"/>
              </a:rPr>
              <a:t>⚠️</a:t>
            </a:r>
            <a:r>
              <a:rPr lang="en-US" sz="1150" dirty="0">
                <a:solidFill>
                  <a:srgbClr val="2A2742"/>
                </a:solidFill>
                <a:latin typeface="Outfit ExtraBold" pitchFamily="34" charset="0"/>
                <a:ea typeface="Outfit ExtraBold" pitchFamily="34" charset="-122"/>
                <a:cs typeface="Outfit ExtraBold" pitchFamily="34" charset="-120"/>
              </a:rPr>
              <a:t> Limitaciones</a:t>
            </a:r>
            <a:endParaRPr lang="en-US" sz="1150" dirty="0"/>
          </a:p>
        </p:txBody>
      </p:sp>
      <p:sp>
        <p:nvSpPr>
          <p:cNvPr id="8" name="Text 6"/>
          <p:cNvSpPr/>
          <p:nvPr/>
        </p:nvSpPr>
        <p:spPr>
          <a:xfrm>
            <a:off x="3371329" y="1487835"/>
            <a:ext cx="2401267" cy="1128713"/>
          </a:xfrm>
          <a:prstGeom prst="rect">
            <a:avLst/>
          </a:prstGeom>
          <a:noFill/>
          <a:ln/>
        </p:spPr>
        <p:txBody>
          <a:bodyPr wrap="square" lIns="0" tIns="0" rIns="0" bIns="0" rtlCol="0" anchor="t">
            <a:normAutofit/>
          </a:bodyPr>
          <a:lstStyle/>
          <a:p>
            <a:pPr marL="342900" indent="-342900" algn="l">
              <a:lnSpc>
                <a:spcPct val="123000"/>
              </a:lnSpc>
              <a:buSzPct val="100000"/>
              <a:buChar char="•"/>
            </a:pPr>
            <a:r>
              <a:rPr lang="en-US" sz="900" dirty="0">
                <a:solidFill>
                  <a:srgbClr val="2A2742"/>
                </a:solidFill>
                <a:latin typeface="Arimo" pitchFamily="34" charset="0"/>
                <a:ea typeface="Arimo" pitchFamily="34" charset="-122"/>
                <a:cs typeface="Arimo" pitchFamily="34" charset="-120"/>
              </a:rPr>
              <a:t>Complejidad cuadrática </a:t>
            </a:r>
            <a:r>
              <a:rPr lang="en-US" sz="900" b="1" dirty="0">
                <a:solidFill>
                  <a:srgbClr val="2A2742"/>
                </a:solidFill>
                <a:latin typeface="Arimo" pitchFamily="34" charset="0"/>
                <a:ea typeface="Arimo" pitchFamily="34" charset="-122"/>
                <a:cs typeface="Arimo" pitchFamily="34" charset="-120"/>
              </a:rPr>
              <a:t>O(n²)</a:t>
            </a:r>
            <a:r>
              <a:rPr lang="en-US" sz="900" dirty="0">
                <a:solidFill>
                  <a:srgbClr val="2A2742"/>
                </a:solidFill>
                <a:latin typeface="Arimo" pitchFamily="34" charset="0"/>
                <a:ea typeface="Arimo" pitchFamily="34" charset="-122"/>
                <a:cs typeface="Arimo" pitchFamily="34" charset="-120"/>
              </a:rPr>
              <a:t> en longitud de secuencia</a:t>
            </a:r>
            <a:endParaRPr lang="en-US" sz="900" dirty="0"/>
          </a:p>
          <a:p>
            <a:pPr marL="342900" indent="-342900" algn="l">
              <a:lnSpc>
                <a:spcPct val="123000"/>
              </a:lnSpc>
              <a:buSzPct val="100000"/>
              <a:buChar char="•"/>
            </a:pPr>
            <a:r>
              <a:rPr lang="en-US" sz="900" dirty="0">
                <a:solidFill>
                  <a:srgbClr val="2A2742"/>
                </a:solidFill>
                <a:latin typeface="Arimo" pitchFamily="34" charset="0"/>
                <a:ea typeface="Arimo" pitchFamily="34" charset="-122"/>
                <a:cs typeface="Arimo" pitchFamily="34" charset="-120"/>
              </a:rPr>
              <a:t>Sin posición inherente (requiere encoding explícito)</a:t>
            </a:r>
            <a:endParaRPr lang="en-US" sz="900" dirty="0"/>
          </a:p>
          <a:p>
            <a:pPr marL="342900" indent="-342900" algn="l">
              <a:lnSpc>
                <a:spcPct val="123000"/>
              </a:lnSpc>
              <a:buSzPct val="100000"/>
              <a:buChar char="•"/>
            </a:pPr>
            <a:r>
              <a:rPr lang="en-US" sz="900" dirty="0">
                <a:solidFill>
                  <a:srgbClr val="2A2742"/>
                </a:solidFill>
                <a:latin typeface="Arimo" pitchFamily="34" charset="0"/>
                <a:ea typeface="Arimo" pitchFamily="34" charset="-122"/>
                <a:cs typeface="Arimo" pitchFamily="34" charset="-120"/>
              </a:rPr>
              <a:t>Alto consumo de memoria en secuencias largas</a:t>
            </a:r>
            <a:endParaRPr lang="en-US" sz="900" dirty="0"/>
          </a:p>
        </p:txBody>
      </p:sp>
      <p:sp>
        <p:nvSpPr>
          <p:cNvPr id="9" name="Shape 7"/>
          <p:cNvSpPr/>
          <p:nvPr/>
        </p:nvSpPr>
        <p:spPr>
          <a:xfrm>
            <a:off x="5997848" y="1111374"/>
            <a:ext cx="2649959" cy="1629519"/>
          </a:xfrm>
          <a:prstGeom prst="roundRect">
            <a:avLst>
              <a:gd name="adj" fmla="val 3083"/>
            </a:avLst>
          </a:prstGeom>
          <a:solidFill>
            <a:srgbClr val="E9E6FA"/>
          </a:solidFill>
          <a:ln w="4763">
            <a:solidFill>
              <a:srgbClr val="BDB8DF"/>
            </a:solidFill>
            <a:prstDash val="solid"/>
          </a:ln>
        </p:spPr>
      </p:sp>
      <p:sp>
        <p:nvSpPr>
          <p:cNvPr id="10" name="Text 8"/>
          <p:cNvSpPr/>
          <p:nvPr/>
        </p:nvSpPr>
        <p:spPr>
          <a:xfrm>
            <a:off x="6122194" y="1235720"/>
            <a:ext cx="1495202" cy="191616"/>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Outfit ExtraBold" pitchFamily="34" charset="0"/>
                <a:ea typeface="Outfit ExtraBold" pitchFamily="34" charset="-122"/>
                <a:cs typeface="Outfit ExtraBold" pitchFamily="34" charset="-120"/>
              </a:rPr>
              <a:t>🌍</a:t>
            </a:r>
            <a:r>
              <a:rPr lang="en-US" sz="1150" dirty="0">
                <a:solidFill>
                  <a:srgbClr val="2A2742"/>
                </a:solidFill>
                <a:latin typeface="Outfit ExtraBold" pitchFamily="34" charset="0"/>
                <a:ea typeface="Outfit ExtraBold" pitchFamily="34" charset="-122"/>
                <a:cs typeface="Outfit ExtraBold" pitchFamily="34" charset="-120"/>
              </a:rPr>
              <a:t> Impacto</a:t>
            </a:r>
            <a:endParaRPr lang="en-US" sz="1150" dirty="0"/>
          </a:p>
        </p:txBody>
      </p:sp>
      <p:sp>
        <p:nvSpPr>
          <p:cNvPr id="11" name="Text 9"/>
          <p:cNvSpPr/>
          <p:nvPr/>
        </p:nvSpPr>
        <p:spPr>
          <a:xfrm>
            <a:off x="6122194" y="1487835"/>
            <a:ext cx="2401267" cy="599629"/>
          </a:xfrm>
          <a:prstGeom prst="rect">
            <a:avLst/>
          </a:prstGeom>
          <a:noFill/>
          <a:ln/>
        </p:spPr>
        <p:txBody>
          <a:bodyPr wrap="square" lIns="0" tIns="0" rIns="0" bIns="0" rtlCol="0" anchor="t">
            <a:normAutofit/>
          </a:bodyPr>
          <a:lstStyle/>
          <a:p>
            <a:pPr marL="342900" indent="-342900" algn="l">
              <a:lnSpc>
                <a:spcPct val="123000"/>
              </a:lnSpc>
              <a:buSzPct val="100000"/>
              <a:buChar char="•"/>
            </a:pPr>
            <a:r>
              <a:rPr lang="en-US" sz="900" dirty="0">
                <a:solidFill>
                  <a:srgbClr val="2A2742"/>
                </a:solidFill>
                <a:latin typeface="Arimo" pitchFamily="34" charset="0"/>
                <a:ea typeface="Arimo" pitchFamily="34" charset="-122"/>
                <a:cs typeface="Arimo" pitchFamily="34" charset="-120"/>
              </a:rPr>
              <a:t>Base de </a:t>
            </a:r>
            <a:r>
              <a:rPr lang="en-US" sz="900" b="1" dirty="0">
                <a:solidFill>
                  <a:srgbClr val="2A2742"/>
                </a:solidFill>
                <a:latin typeface="Arimo" pitchFamily="34" charset="0"/>
                <a:ea typeface="Arimo" pitchFamily="34" charset="-122"/>
                <a:cs typeface="Arimo" pitchFamily="34" charset="-120"/>
              </a:rPr>
              <a:t>GPT, BERT, T5, Gemini</a:t>
            </a:r>
            <a:endParaRPr lang="en-US" sz="900" dirty="0"/>
          </a:p>
          <a:p>
            <a:pPr marL="342900" indent="-342900" algn="l">
              <a:lnSpc>
                <a:spcPct val="123000"/>
              </a:lnSpc>
              <a:buSzPct val="100000"/>
              <a:buChar char="•"/>
            </a:pPr>
            <a:r>
              <a:rPr lang="en-US" sz="900" dirty="0">
                <a:solidFill>
                  <a:srgbClr val="2A2742"/>
                </a:solidFill>
                <a:latin typeface="Arimo" pitchFamily="34" charset="0"/>
                <a:ea typeface="Arimo" pitchFamily="34" charset="-122"/>
                <a:cs typeface="Arimo" pitchFamily="34" charset="-120"/>
              </a:rPr>
              <a:t>Revolución en NLP, visión y multimodal</a:t>
            </a:r>
            <a:endParaRPr lang="en-US" sz="900" dirty="0"/>
          </a:p>
          <a:p>
            <a:pPr marL="342900" indent="-342900" algn="l">
              <a:lnSpc>
                <a:spcPct val="123000"/>
              </a:lnSpc>
              <a:buSzPct val="100000"/>
              <a:buChar char="•"/>
            </a:pPr>
            <a:r>
              <a:rPr lang="en-US" sz="900" dirty="0">
                <a:solidFill>
                  <a:srgbClr val="2A2742"/>
                </a:solidFill>
                <a:latin typeface="Arimo" pitchFamily="34" charset="0"/>
                <a:ea typeface="Arimo" pitchFamily="34" charset="-122"/>
                <a:cs typeface="Arimo" pitchFamily="34" charset="-120"/>
              </a:rPr>
              <a:t>Nuevo paradigma en Deep Learning</a:t>
            </a:r>
            <a:endParaRPr lang="en-US" sz="900" dirty="0"/>
          </a:p>
        </p:txBody>
      </p:sp>
      <p:sp>
        <p:nvSpPr>
          <p:cNvPr id="12" name="Text 10"/>
          <p:cNvSpPr/>
          <p:nvPr/>
        </p:nvSpPr>
        <p:spPr>
          <a:xfrm>
            <a:off x="675531" y="2967856"/>
            <a:ext cx="8429551" cy="176361"/>
          </a:xfrm>
          <a:prstGeom prst="rect">
            <a:avLst/>
          </a:prstGeom>
          <a:noFill/>
          <a:ln/>
        </p:spPr>
        <p:txBody>
          <a:bodyPr wrap="none" lIns="0" tIns="0" rIns="0" bIns="0" rtlCol="0" anchor="t"/>
          <a:lstStyle/>
          <a:p>
            <a:pPr marL="0" indent="0" algn="l">
              <a:lnSpc>
                <a:spcPct val="123000"/>
              </a:lnSpc>
              <a:buNone/>
            </a:pPr>
            <a:r>
              <a:rPr lang="en-US" sz="900" dirty="0">
                <a:solidFill>
                  <a:srgbClr val="2A2742"/>
                </a:solidFill>
                <a:latin typeface="Arimo" pitchFamily="34" charset="0"/>
                <a:ea typeface="Arimo" pitchFamily="34" charset="-122"/>
                <a:cs typeface="Arimo" pitchFamily="34" charset="-120"/>
              </a:rPr>
              <a:t>«La atención no es solo un componente más: es el único mecanismo necesario para modelar secuencias.»</a:t>
            </a:r>
            <a:endParaRPr lang="en-US" sz="900" dirty="0"/>
          </a:p>
        </p:txBody>
      </p:sp>
      <p:sp>
        <p:nvSpPr>
          <p:cNvPr id="13" name="Shape 11"/>
          <p:cNvSpPr/>
          <p:nvPr/>
        </p:nvSpPr>
        <p:spPr>
          <a:xfrm>
            <a:off x="496119" y="3371180"/>
            <a:ext cx="8151763" cy="1123057"/>
          </a:xfrm>
          <a:prstGeom prst="roundRect">
            <a:avLst>
              <a:gd name="adj" fmla="val 4473"/>
            </a:avLst>
          </a:prstGeom>
          <a:solidFill>
            <a:srgbClr val="C3BCF6"/>
          </a:solidFill>
          <a:ln/>
        </p:spPr>
      </p:sp>
      <p:pic>
        <p:nvPicPr>
          <p:cNvPr id="14" name="Image 0" descr="preencoded.png"/>
          <p:cNvPicPr>
            <a:picLocks noChangeAspect="1"/>
          </p:cNvPicPr>
          <p:nvPr/>
        </p:nvPicPr>
        <p:blipFill>
          <a:blip r:embed="rId3"/>
          <a:stretch>
            <a:fillRect/>
          </a:stretch>
        </p:blipFill>
        <p:spPr>
          <a:xfrm>
            <a:off x="615702" y="3534966"/>
            <a:ext cx="149498" cy="119583"/>
          </a:xfrm>
          <a:prstGeom prst="rect">
            <a:avLst/>
          </a:prstGeom>
        </p:spPr>
      </p:pic>
      <p:sp>
        <p:nvSpPr>
          <p:cNvPr id="15" name="Text 12"/>
          <p:cNvSpPr/>
          <p:nvPr/>
        </p:nvSpPr>
        <p:spPr>
          <a:xfrm>
            <a:off x="884783" y="3491805"/>
            <a:ext cx="7643515" cy="881807"/>
          </a:xfrm>
          <a:prstGeom prst="rect">
            <a:avLst/>
          </a:prstGeom>
          <a:noFill/>
          <a:ln/>
        </p:spPr>
        <p:txBody>
          <a:bodyPr wrap="square" lIns="0" tIns="0" rIns="0" bIns="0" rtlCol="0" anchor="t">
            <a:normAutofit/>
          </a:bodyPr>
          <a:lstStyle/>
          <a:p>
            <a:pPr marL="0" indent="0" algn="l">
              <a:lnSpc>
                <a:spcPct val="123000"/>
              </a:lnSpc>
              <a:buNone/>
            </a:pPr>
            <a:r>
              <a:rPr lang="en-US" sz="900" b="1" dirty="0">
                <a:solidFill>
                  <a:srgbClr val="000000"/>
                </a:solidFill>
                <a:latin typeface="Arimo" pitchFamily="34" charset="0"/>
                <a:ea typeface="Arimo" pitchFamily="34" charset="-122"/>
                <a:cs typeface="Arimo" pitchFamily="34" charset="-120"/>
              </a:rPr>
              <a:t>Notas del presentador:</a:t>
            </a:r>
            <a:r>
              <a:rPr lang="en-US" sz="900" dirty="0">
                <a:solidFill>
                  <a:srgbClr val="000000"/>
                </a:solidFill>
                <a:latin typeface="Arimo" pitchFamily="34" charset="0"/>
                <a:ea typeface="Arimo" pitchFamily="34" charset="-122"/>
                <a:cs typeface="Arimo" pitchFamily="34" charset="-120"/>
              </a:rPr>
              <a:t> En conclusión, el Transformer revolucionó el Deep Learning al demostrar que la atención es suficiente para modelar secuencias sin recurrencia ni convolución. Sus fortalezas son la paralelización total, la captura de dependencias de largo alcance en un paso y su escalabilidad. Sus limitaciones incluyen la complejidad cuadrática en memoria y la necesidad de codificación posicional explícita. Su impacto es innegable: GPT, BERT, T5, Gemini y todos los grandes modelos de lenguaje actuales son variantes del Transformer. Este artículo no solo resolvió un problema de traducción automática, sino que definió el paradigma dominante del Deep Learning moderno. Muchas gracias.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TotalTime>
  <Words>792</Words>
  <Application>Microsoft Macintosh PowerPoint</Application>
  <PresentationFormat>Presentación en pantalla (16:9)</PresentationFormat>
  <Paragraphs>51</Paragraphs>
  <Slides>5</Slides>
  <Notes>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vt:i4>
      </vt:variant>
    </vt:vector>
  </HeadingPairs>
  <TitlesOfParts>
    <vt:vector size="9" baseType="lpstr">
      <vt:lpstr>Arial</vt:lpstr>
      <vt:lpstr>Arimo</vt:lpstr>
      <vt:lpstr>Outfit ExtraBold</vt:lpstr>
      <vt:lpstr>Office Theme</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Julio Úbeda Quesada</cp:lastModifiedBy>
  <cp:revision>2</cp:revision>
  <dcterms:created xsi:type="dcterms:W3CDTF">2026-06-14T15:33:09Z</dcterms:created>
  <dcterms:modified xsi:type="dcterms:W3CDTF">2026-06-14T17:33:33Z</dcterms:modified>
</cp:coreProperties>
</file>